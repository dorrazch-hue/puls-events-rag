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731520"/>
            <a:ext cx="4114800" cy="4114800"/>
          </a:xfrm>
          <a:prstGeom prst="ellipse">
            <a:avLst/>
          </a:prstGeom>
          <a:solidFill>
            <a:srgbClr val="2D5BE3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3200400"/>
            <a:ext cx="2286000" cy="2286000"/>
          </a:xfrm>
          <a:prstGeom prst="ellipse">
            <a:avLst/>
          </a:prstGeom>
          <a:solidFill>
            <a:srgbClr val="F5A623">
              <a:alpha val="2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PULS-EVENTS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144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Assistant de Recommandation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d'Événements Culturels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517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 — Système RAG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291840"/>
            <a:ext cx="1097280" cy="457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520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 •  Mistral AI  •  FAISS  •  Open Agenda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80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Août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&amp; Problématique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188720"/>
            <a:ext cx="2651760" cy="329184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" y="137160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🎭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103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Puls-Events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de gestion d'événements culturels en temps réel, connectée à de multiples sources de données.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188720"/>
            <a:ext cx="2651760" cy="329184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0" y="137160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2103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besoin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26517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utilisateurs veulent des recommandations personnalisées, pas une simple liste d'événements.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137160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🤖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2103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517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chatbot intelligent capable de comprendre les préférences et de répondre en langage naturel.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Qu'est-ce que le RAG 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0" y="1463040"/>
            <a:ext cx="1097280" cy="1097280"/>
          </a:xfrm>
          <a:prstGeom prst="ellipse">
            <a:avLst/>
          </a:prstGeom>
          <a:solidFill>
            <a:srgbClr val="2D5BE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55448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97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57400" y="1920240"/>
            <a:ext cx="457200" cy="45720"/>
          </a:xfrm>
          <a:prstGeom prst="rect">
            <a:avLst/>
          </a:prstGeom>
          <a:solidFill>
            <a:srgbClr val="8892A4"/>
          </a:solidFill>
          <a:ln/>
        </p:spPr>
      </p:sp>
      <p:sp>
        <p:nvSpPr>
          <p:cNvPr id="8" name="Shape 6"/>
          <p:cNvSpPr/>
          <p:nvPr/>
        </p:nvSpPr>
        <p:spPr>
          <a:xfrm>
            <a:off x="3063240" y="1463040"/>
            <a:ext cx="1097280" cy="1097280"/>
          </a:xfrm>
          <a:prstGeom prst="ellipse">
            <a:avLst/>
          </a:prstGeom>
          <a:solidFill>
            <a:srgbClr val="6A3D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63240" y="155448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2697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06240" y="1920240"/>
            <a:ext cx="457200" cy="45720"/>
          </a:xfrm>
          <a:prstGeom prst="rect">
            <a:avLst/>
          </a:prstGeom>
          <a:solidFill>
            <a:srgbClr val="8892A4"/>
          </a:solidFill>
          <a:ln/>
        </p:spPr>
      </p:sp>
      <p:sp>
        <p:nvSpPr>
          <p:cNvPr id="12" name="Shape 10"/>
          <p:cNvSpPr/>
          <p:nvPr/>
        </p:nvSpPr>
        <p:spPr>
          <a:xfrm>
            <a:off x="5212080" y="1463040"/>
            <a:ext cx="1097280" cy="1097280"/>
          </a:xfrm>
          <a:prstGeom prst="ellipse">
            <a:avLst/>
          </a:prstGeom>
          <a:solidFill>
            <a:srgbClr val="2D9CD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12080" y="155448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697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55080" y="1920240"/>
            <a:ext cx="457200" cy="45720"/>
          </a:xfrm>
          <a:prstGeom prst="rect">
            <a:avLst/>
          </a:prstGeom>
          <a:solidFill>
            <a:srgbClr val="8892A4"/>
          </a:solidFill>
          <a:ln/>
        </p:spPr>
      </p:sp>
      <p:sp>
        <p:nvSpPr>
          <p:cNvPr id="16" name="Shape 14"/>
          <p:cNvSpPr/>
          <p:nvPr/>
        </p:nvSpPr>
        <p:spPr>
          <a:xfrm>
            <a:off x="7360920" y="1463040"/>
            <a:ext cx="1097280" cy="10972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60920" y="155448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2697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Le LLM ne génère pas de réponse "de mémoire" — il s'appuie sur de vraies données récupérées en temps réel.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du Système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18872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Agenda API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8288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 données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1801368"/>
            <a:ext cx="411480" cy="45720"/>
          </a:xfrm>
          <a:prstGeom prst="rect">
            <a:avLst/>
          </a:prstGeom>
          <a:solidFill>
            <a:srgbClr val="8892A4"/>
          </a:solidFill>
          <a:ln/>
        </p:spPr>
      </p:sp>
      <p:sp>
        <p:nvSpPr>
          <p:cNvPr id="7" name="Shape 5"/>
          <p:cNvSpPr/>
          <p:nvPr/>
        </p:nvSpPr>
        <p:spPr>
          <a:xfrm>
            <a:off x="2331720" y="118872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2D5BE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423160" y="12801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18288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 &amp; structuration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06240" y="1801368"/>
            <a:ext cx="411480" cy="45720"/>
          </a:xfrm>
          <a:prstGeom prst="rect">
            <a:avLst/>
          </a:prstGeom>
          <a:solidFill>
            <a:srgbClr val="8892A4"/>
          </a:solidFill>
          <a:ln/>
        </p:spPr>
      </p:sp>
      <p:sp>
        <p:nvSpPr>
          <p:cNvPr id="11" name="Shape 9"/>
          <p:cNvSpPr/>
          <p:nvPr/>
        </p:nvSpPr>
        <p:spPr>
          <a:xfrm>
            <a:off x="4297680" y="118872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8E44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89120" y="12801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Embed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343400" y="18288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Vectorisation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72200" y="1801368"/>
            <a:ext cx="411480" cy="45720"/>
          </a:xfrm>
          <a:prstGeom prst="rect">
            <a:avLst/>
          </a:prstGeom>
          <a:solidFill>
            <a:srgbClr val="8892A4"/>
          </a:solidFill>
          <a:ln/>
        </p:spPr>
      </p:sp>
      <p:sp>
        <p:nvSpPr>
          <p:cNvPr id="15" name="Shape 13"/>
          <p:cNvSpPr/>
          <p:nvPr/>
        </p:nvSpPr>
        <p:spPr>
          <a:xfrm>
            <a:off x="6263640" y="118872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2D9CD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5080" y="12801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Index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18288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vectorielle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86000" y="3017520"/>
            <a:ext cx="4572000" cy="1280160"/>
          </a:xfrm>
          <a:prstGeom prst="roundRect">
            <a:avLst>
              <a:gd name="adj" fmla="val 7143"/>
            </a:avLst>
          </a:prstGeom>
          <a:solidFill>
            <a:srgbClr val="1A1F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377440" y="31089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🤖  Chatbot RAG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5204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orchestre FAISS + Mistral LLM → Réponse naturelle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480560" y="2578608"/>
            <a:ext cx="45720" cy="420624"/>
          </a:xfrm>
          <a:prstGeom prst="rect">
            <a:avLst/>
          </a:prstGeom>
          <a:solidFill>
            <a:srgbClr val="8892A4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Collecte des Données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Open Agenda — "Que faire à Paris"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0F4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1600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5B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2 463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24688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14600" y="146304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0F4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600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5B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4688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indexés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46304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0F4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09160" y="1600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5B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 an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24688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temporel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12280" y="146304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0F4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0" y="1600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5B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2D5B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Paris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24688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géographique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7033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événement contient : titre, description, lieu, date, mots-clés. Ces champs sont concaténés en un champ texte_complet avant vectorisation.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Vectorisation Sémantique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: mistral-embed (Mistral AI)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3200400" cy="1645920"/>
          </a:xfrm>
          <a:prstGeom prst="roundRect">
            <a:avLst>
              <a:gd name="adj" fmla="val 4444"/>
            </a:avLst>
          </a:prstGeom>
          <a:solidFill>
            <a:srgbClr val="1E2A5E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"Exposition d'art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contemporain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Palais de Tokyo"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749040" y="1920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A623"/>
                </a:solidFill>
              </a:rPr>
              <a:t>→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2468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mistral-embed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480560" y="1371600"/>
            <a:ext cx="4297680" cy="1645920"/>
          </a:xfrm>
          <a:prstGeom prst="roundRect">
            <a:avLst>
              <a:gd name="adj" fmla="val 4444"/>
            </a:avLst>
          </a:prstGeom>
          <a:solidFill>
            <a:srgbClr val="1E2A5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15544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[0.23, -0.87, 0.54, 0.11, -0.39, 0.76, ...]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1031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Vecteur de 1024 dimensions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capturant le sens sémantique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383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Deux textes proches en sens auront des vecteurs proches — même sans mots en commun.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Vectorielle FAISS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005840"/>
            <a:ext cx="3200400" cy="3200400"/>
          </a:xfrm>
          <a:prstGeom prst="roundRect">
            <a:avLst>
              <a:gd name="adj" fmla="val 2857"/>
            </a:avLst>
          </a:prstGeom>
          <a:solidFill>
            <a:srgbClr val="E8EE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1645920"/>
            <a:ext cx="329184" cy="329184"/>
          </a:xfrm>
          <a:prstGeom prst="ellipse">
            <a:avLst/>
          </a:prstGeom>
          <a:solidFill>
            <a:srgbClr val="2D5BE3"/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2286000"/>
            <a:ext cx="329184" cy="329184"/>
          </a:xfrm>
          <a:prstGeom prst="ellipse">
            <a:avLst/>
          </a:prstGeom>
          <a:solidFill>
            <a:srgbClr val="2D5BE3"/>
          </a:solidFill>
          <a:ln/>
        </p:spPr>
      </p:sp>
      <p:sp>
        <p:nvSpPr>
          <p:cNvPr id="6" name="Shape 4"/>
          <p:cNvSpPr/>
          <p:nvPr/>
        </p:nvSpPr>
        <p:spPr>
          <a:xfrm>
            <a:off x="2560320" y="1371600"/>
            <a:ext cx="329184" cy="329184"/>
          </a:xfrm>
          <a:prstGeom prst="ellipse">
            <a:avLst/>
          </a:prstGeom>
          <a:solidFill>
            <a:srgbClr val="2D5BE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0" y="2011680"/>
            <a:ext cx="329184" cy="329184"/>
          </a:xfrm>
          <a:prstGeom prst="ellipse">
            <a:avLst/>
          </a:prstGeom>
          <a:solidFill>
            <a:srgbClr val="2D5BE3"/>
          </a:solidFill>
          <a:ln/>
        </p:spPr>
      </p:sp>
      <p:sp>
        <p:nvSpPr>
          <p:cNvPr id="8" name="Shape 6"/>
          <p:cNvSpPr/>
          <p:nvPr/>
        </p:nvSpPr>
        <p:spPr>
          <a:xfrm>
            <a:off x="1737360" y="2926080"/>
            <a:ext cx="329184" cy="329184"/>
          </a:xfrm>
          <a:prstGeom prst="ellipse">
            <a:avLst/>
          </a:prstGeom>
          <a:solidFill>
            <a:srgbClr val="2D5BE3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0" y="3200400"/>
            <a:ext cx="329184" cy="329184"/>
          </a:xfrm>
          <a:prstGeom prst="ellipse">
            <a:avLst/>
          </a:prstGeom>
          <a:solidFill>
            <a:srgbClr val="2D5BE3"/>
          </a:solidFill>
          <a:ln/>
        </p:spPr>
      </p:sp>
      <p:sp>
        <p:nvSpPr>
          <p:cNvPr id="10" name="Shape 8"/>
          <p:cNvSpPr/>
          <p:nvPr/>
        </p:nvSpPr>
        <p:spPr>
          <a:xfrm>
            <a:off x="2286000" y="1828800"/>
            <a:ext cx="548640" cy="54864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1" name="Shape 9"/>
          <p:cNvSpPr/>
          <p:nvPr/>
        </p:nvSpPr>
        <p:spPr>
          <a:xfrm>
            <a:off x="2148840" y="2468880"/>
            <a:ext cx="914400" cy="9144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5A623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1005840" y="39776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vectoriel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(300 événements)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1148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IndexFlatL2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15361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Algorithme de similarité euclidienne — précis et simple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148840"/>
            <a:ext cx="41148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37760" y="21945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top-k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937760" y="249631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Retourne les k événements les plus proches sémantiquement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3108960"/>
            <a:ext cx="41148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37760" y="31546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Persistance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345643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sauvegardé en fichier .index — rechargeable sans recalcul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Chatbot RAG en Action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200400" y="1097280"/>
            <a:ext cx="5486400" cy="868680"/>
          </a:xfrm>
          <a:prstGeom prst="roundRect">
            <a:avLst>
              <a:gd name="adj" fmla="val 12632"/>
            </a:avLst>
          </a:prstGeom>
          <a:solidFill>
            <a:srgbClr val="2D5BE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337560" y="1143000"/>
            <a:ext cx="5212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"Quelles sont les expositions d'art à Paris ce mois-ci ?"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EEF2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224028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les 3 événements les plus proches sémantiquement...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3291840"/>
            <a:ext cx="6858000" cy="868680"/>
          </a:xfrm>
          <a:prstGeom prst="roundRect">
            <a:avLst>
              <a:gd name="adj" fmla="val 12632"/>
            </a:avLst>
          </a:prstGeom>
          <a:solidFill>
            <a:srgbClr val="F0FF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3337560"/>
            <a:ext cx="6583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"Voici 3 expositions en ce moment : 1. Exposition au Palais de Tokyo... 2. Henry Taylor au Centre Pompidou... 3. Renaissance : De Vinci..."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moyen : 3 à 5 secondes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Unitaires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8 tests passés  ✅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41248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✅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35331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test_donnees_non_vides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527048"/>
            <a:ext cx="7406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que les données ont bien été récupérées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792224"/>
            <a:ext cx="841248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837944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✅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81965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test_evenements_moins_un_an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1993392"/>
            <a:ext cx="7406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que tous les événements datent de moins d'un an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41248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304288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28600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test_ville_paris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2459736"/>
            <a:ext cx="7406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que les événements sont dans le Grand Paris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724912"/>
            <a:ext cx="841248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2770632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5234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test_champs_obligatoires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2926080"/>
            <a:ext cx="7406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la présence des champs titre et texte_complet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191256"/>
            <a:ext cx="841248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236976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✅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21868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test_index_faiss_existe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3392424"/>
            <a:ext cx="7406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que l'index FAISS a bien été créé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657600"/>
            <a:ext cx="841248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703320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✅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68503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test_recherche_vectorielle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" y="3858768"/>
            <a:ext cx="7406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que la recherche FAISS retourne 3 résultats valides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4123944"/>
            <a:ext cx="841248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169664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✅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415137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test_texte_complet_non_vide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051560" y="4325112"/>
            <a:ext cx="7406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la longueur minimale du texte_complet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590288"/>
            <a:ext cx="841248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4636008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✅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51560" y="46177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test_gestion_champ_manquant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051560" y="4791456"/>
            <a:ext cx="7406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la robustesse aux champs absents ou vides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du POC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18872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1E2A5E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325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2194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2560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indexés dans FAISS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14600" y="118872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1E2A5E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325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8/8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194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560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unitaires passés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1E2A5E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09160" y="1325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3-5s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2194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709160" y="2560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moyen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12280" y="118872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1E2A5E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0" y="1325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2194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2560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évaluation RAG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233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POC validé — le système RAG est fonctionnel et prêt à être présenté aux équipes produit et marketing.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Recommandations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la version de production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0F4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508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5087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de données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8288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Étendre à 500+ événements via filtres thématiques avancés (pagination déjà implémentée à 300)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83464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0F4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926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926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Mémoire contextuelle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2461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l'historique de conversation pour un chatbot plus naturel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0F4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508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15087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à jour auto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18288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quotidien pour maintenir les données à jour en continu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283464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0F4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2926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📏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926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qualité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0" y="32461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 de données test annoté (Q/R) + métriques BLEU / ROUGE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4572000" cy="4572000"/>
          </a:xfrm>
          <a:prstGeom prst="ellipse">
            <a:avLst/>
          </a:prstGeom>
          <a:solidFill>
            <a:srgbClr val="2D5BE3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3200400"/>
            <a:ext cx="2743200" cy="2743200"/>
          </a:xfrm>
          <a:prstGeom prst="ellipse">
            <a:avLst/>
          </a:prstGeom>
          <a:solidFill>
            <a:srgbClr val="F5A623">
              <a:alpha val="1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5486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POC démontre la faisabilité technique d'un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RAG pour la recommandation d'événements culturels.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Architecture RAG fonctionnelle (Open Agenda + Mistral + FAISS)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300 événements indexés avec pagination, recherche sémantique opérationnelle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461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Tests unitaires 8/8 passés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033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Prêt pour déploiement à plus grande échelle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251960"/>
            <a:ext cx="1371600" cy="457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3891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de votre attention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2026-08-30T22:31:06Z</dcterms:created>
  <dcterms:modified xsi:type="dcterms:W3CDTF">2026-08-30T22:31:06Z</dcterms:modified>
</cp:coreProperties>
</file>